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All metrics and visuals are generated from the synthetic sample dataset bundled with this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Industrial sensors image: https://www.st.com/en/applications/factory-automation/industrial-sensors.html
- All charts and table values are generated from the synthetic sample dataset bundled with this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Technician image: https://auto.edu/industrial-maintenance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dictive-maintenance-project/assets/temp_vibration_scatter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rcRect l="20460" r="20460" t="0" b="0"/>
          <a:stretch/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51D">
              <a:alpha val="82000"/>
            </a:srgbClr>
          </a:solidFill>
          <a:ln w="12700">
            <a:solidFill>
              <a:srgbClr val="0715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82296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9536" y="909828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MANUFACTURING AI USE CASE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58368" y="14173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Maintenance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85800" y="306324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portfolio-ready starter project with synthetic machine data, Python model training code, and an executive slide deck.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13232" y="429768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" y="4462272"/>
            <a:ext cx="12710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6D"/>
                </a:solidFill>
              </a:rPr>
              <a:t>Dataset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77824" y="4681728"/>
            <a:ext cx="1271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1,200 rows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450592" y="42976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615184" y="4462272"/>
            <a:ext cx="10881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6D"/>
                </a:solidFill>
              </a:rPr>
              <a:t>Model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615184" y="4681728"/>
            <a:ext cx="1088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RF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4005072" y="42976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169664" y="4462272"/>
            <a:ext cx="10881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6D"/>
                </a:solidFill>
              </a:rPr>
              <a:t>AUC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169664" y="4681728"/>
            <a:ext cx="1088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0.772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31520" y="56235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CCC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show how IT, OT, and maintenance teams can move from reactive repair to risk-based intervention.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use case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maintenance from calendar-driven tasks to probability-driven intervention.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3822192" cy="4800600"/>
          </a:xfrm>
          <a:prstGeom prst="roundRect">
            <a:avLst>
              <a:gd name="adj" fmla="val 143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17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Business pain points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02A43"/>
                </a:solidFill>
              </a:rPr>
              <a:t>Unexpected asset failure causes missed output and overtime labor.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02A43"/>
                </a:solidFill>
              </a:rPr>
              <a:t>Maintenance planners do not have a ranked list of at-risk machines.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02A43"/>
                </a:solidFill>
              </a:rPr>
              <a:t>Sensor signals exist, but they are not converted into timely alerts.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02A43"/>
                </a:solidFill>
              </a:rPr>
              <a:t>The goal is to predict failure in the next 7 days and prioritize action.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77240" y="4160520"/>
            <a:ext cx="3017520" cy="1280160"/>
          </a:xfrm>
          <a:prstGeom prst="roundRect">
            <a:avLst>
              <a:gd name="adj" fmla="val 3571"/>
            </a:avLst>
          </a:prstGeom>
          <a:solidFill>
            <a:srgbClr val="E6FFFB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38912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606D"/>
                </a:solidFill>
              </a:rPr>
              <a:t>Target KPI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4617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</a:rPr>
              <a:t>↓ unplanned downtime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</a:rPr>
              <a:t>↑ maintenance efficiency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526280" y="1170432"/>
            <a:ext cx="352958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39903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Failure rate by line</a:t>
            </a:r>
            <a:endParaRPr lang="en-US" sz="1700" dirty="0"/>
          </a:p>
        </p:txBody>
      </p:sp>
      <p:pic>
        <p:nvPicPr>
          <p:cNvPr id="12" name="Image 0" descr="/mnt/data/predictive-maintenance-project/assets/failure_rate_by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2" y="1664208"/>
            <a:ext cx="2331720" cy="15544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11312" y="1170432"/>
            <a:ext cx="34747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0" y="139903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Illustrative downtime cost</a:t>
            </a:r>
            <a:endParaRPr lang="en-US" sz="1700" dirty="0"/>
          </a:p>
        </p:txBody>
      </p:sp>
      <p:pic>
        <p:nvPicPr>
          <p:cNvPr id="15" name="Image 1" descr="/mnt/data/predictive-maintenance-project/assets/downtime_c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3668" y="1664208"/>
            <a:ext cx="2331720" cy="15544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26280" y="374904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690872" y="3913632"/>
            <a:ext cx="1911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6D"/>
                </a:solidFill>
              </a:rPr>
              <a:t>Prediction window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690872" y="4133088"/>
            <a:ext cx="1911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7 days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6903720" y="374904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068312" y="3913632"/>
            <a:ext cx="1911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6D"/>
                </a:solidFill>
              </a:rPr>
              <a:t>Signals used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068312" y="4133088"/>
            <a:ext cx="1911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 features</a:t>
            </a:r>
            <a:endParaRPr lang="en-US" sz="2400" dirty="0"/>
          </a:p>
        </p:txBody>
      </p:sp>
      <p:sp>
        <p:nvSpPr>
          <p:cNvPr id="22" name="Shape 18"/>
          <p:cNvSpPr/>
          <p:nvPr/>
        </p:nvSpPr>
        <p:spPr>
          <a:xfrm>
            <a:off x="9281160" y="3749040"/>
            <a:ext cx="24048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9445752" y="3913632"/>
            <a:ext cx="2075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6D"/>
                </a:solidFill>
              </a:rPr>
              <a:t>Starter outcome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9445752" y="4133088"/>
            <a:ext cx="2075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 risk daily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4572000" y="521208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2606D"/>
                </a:solidFill>
              </a:rPr>
              <a:t>This starter package uses synthetic sample data, so the cost chart is illustrative and intended for stakeholder storytelling.</a:t>
            </a:r>
            <a:endParaRPr lang="en-US" sz="1220" dirty="0"/>
          </a:p>
        </p:txBody>
      </p:sp>
      <p:sp>
        <p:nvSpPr>
          <p:cNvPr id="26" name="Text 22"/>
          <p:cNvSpPr/>
          <p:nvPr/>
        </p:nvSpPr>
        <p:spPr>
          <a:xfrm>
            <a:off x="502920" y="6428232"/>
            <a:ext cx="6217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demo project • portfolio-ready starter package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0698480" y="64282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Vincent Eng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signals and feature engineering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 sensor, process, and maintenance context into one machine-level record.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3657600" cy="47548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1732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Signal categories</a:t>
            </a:r>
            <a:endParaRPr lang="en-US" sz="1800" dirty="0"/>
          </a:p>
        </p:txBody>
      </p:sp>
      <p:pic>
        <p:nvPicPr>
          <p:cNvPr id="6" name="Image 0" descr="/mnt/data/industrial_sensors.png">    </p:cNvPr>
          <p:cNvPicPr>
            <a:picLocks noChangeAspect="1"/>
          </p:cNvPicPr>
          <p:nvPr/>
        </p:nvPicPr>
        <p:blipFill>
          <a:blip r:embed="rId1"/>
          <a:srcRect l="0" r="0" t="13836" b="13836"/>
          <a:stretch/>
        </p:blipFill>
        <p:spPr>
          <a:xfrm>
            <a:off x="768096" y="1737360"/>
            <a:ext cx="3127248" cy="1508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529584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</a:rPr>
              <a:t>Sensor health: </a:t>
            </a:r>
            <a:pPr indent="0" marL="0">
              <a:buNone/>
            </a:pPr>
            <a:r>
              <a:rPr lang="en-US" sz="1440" dirty="0">
                <a:solidFill>
                  <a:srgbClr val="52606D"/>
                </a:solidFill>
              </a:rPr>
              <a:t>temperature, vibration, pressure, current
</a:t>
            </a:r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</a:rPr>
              <a:t>Process context: </a:t>
            </a:r>
            <a:pPr indent="0" marL="0">
              <a:buNone/>
            </a:pPr>
            <a:r>
              <a:rPr lang="en-US" sz="1440" dirty="0">
                <a:solidFill>
                  <a:srgbClr val="52606D"/>
                </a:solidFill>
              </a:rPr>
              <a:t>production line, line speed, shift
</a:t>
            </a:r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</a:rPr>
              <a:t>Maintenance state: </a:t>
            </a:r>
            <a:pPr indent="0" marL="0">
              <a:buNone/>
            </a:pPr>
            <a:r>
              <a:rPr lang="en-US" sz="1440" dirty="0">
                <a:solidFill>
                  <a:srgbClr val="000000"/>
                </a:solidFill>
              </a:rPr>
              <a:t>days since maintenance, defect rate, energy spike</a:t>
            </a:r>
            <a:endParaRPr lang="en-US" sz="1440" dirty="0"/>
          </a:p>
        </p:txBody>
      </p:sp>
      <p:sp>
        <p:nvSpPr>
          <p:cNvPr id="8" name="Shape 5"/>
          <p:cNvSpPr/>
          <p:nvPr/>
        </p:nvSpPr>
        <p:spPr>
          <a:xfrm>
            <a:off x="786384" y="4846320"/>
            <a:ext cx="2971800" cy="749808"/>
          </a:xfrm>
          <a:prstGeom prst="roundRect">
            <a:avLst>
              <a:gd name="adj" fmla="val 6098"/>
            </a:avLst>
          </a:prstGeom>
          <a:solidFill>
            <a:srgbClr val="F0FDF4"/>
          </a:solidFill>
          <a:ln w="12700">
            <a:solidFill>
              <a:srgbClr val="C6F6D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50566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66534"/>
                </a:solidFill>
              </a:rPr>
              <a:t>Label: failure_next_7d = 1 if the machine is expected to fail within 7 days.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4370832" y="1170432"/>
            <a:ext cx="3547872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0288" y="139903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Sample rows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17720" y="1810512"/>
            <a:ext cx="29718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0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Temp   Vib   Days  Line  Fail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10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M-008  78.8  5.73   104    B     1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10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M-021  67.4  4.02    19    A     0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10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M-044  82.1  6.11   131    C     1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10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M-055  71.3  4.66    42    A     0</a:t>
            </a:r>
            <a:endParaRPr lang="en-US" sz="1160" dirty="0"/>
          </a:p>
        </p:txBody>
      </p:sp>
      <p:sp>
        <p:nvSpPr>
          <p:cNvPr id="13" name="Shape 10"/>
          <p:cNvSpPr/>
          <p:nvPr/>
        </p:nvSpPr>
        <p:spPr>
          <a:xfrm>
            <a:off x="8119872" y="1170432"/>
            <a:ext cx="358444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39328" y="1399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Risk pattern</a:t>
            </a:r>
            <a:endParaRPr lang="en-US" sz="1700" dirty="0"/>
          </a:p>
        </p:txBody>
      </p:sp>
      <p:pic>
        <p:nvPicPr>
          <p:cNvPr id="15" name="Image 1" descr="/mnt/data/predictive-maintenance-project/assets/temp_vibration_sca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3465" y="1664208"/>
            <a:ext cx="2220686" cy="1554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99432" y="387705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Feature engineering flow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6016752" y="4636008"/>
            <a:ext cx="384048" cy="274320"/>
          </a:xfrm>
          <a:prstGeom prst="chevron">
            <a:avLst/>
          </a:prstGeom>
          <a:solidFill>
            <a:srgbClr val="B8C6DB"/>
          </a:solidFill>
          <a:ln w="12700">
            <a:solidFill>
              <a:srgbClr val="B8C6D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918704" y="4636008"/>
            <a:ext cx="384048" cy="274320"/>
          </a:xfrm>
          <a:prstGeom prst="chevron">
            <a:avLst/>
          </a:prstGeom>
          <a:solidFill>
            <a:srgbClr val="B8C6DB"/>
          </a:solidFill>
          <a:ln w="12700">
            <a:solidFill>
              <a:srgbClr val="B8C6D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756648" y="4636008"/>
            <a:ext cx="384048" cy="274320"/>
          </a:xfrm>
          <a:prstGeom prst="chevron">
            <a:avLst/>
          </a:prstGeom>
          <a:solidFill>
            <a:srgbClr val="B8C6DB"/>
          </a:solidFill>
          <a:ln w="12700">
            <a:solidFill>
              <a:srgbClr val="B8C6D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90288" y="4370832"/>
            <a:ext cx="1353312" cy="96012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681728" y="450799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</a:rPr>
              <a:t>Raw signals</a:t>
            </a:r>
            <a:endParaRPr lang="en-US" sz="1260" dirty="0"/>
          </a:p>
        </p:txBody>
      </p:sp>
      <p:sp>
        <p:nvSpPr>
          <p:cNvPr id="22" name="Text 18"/>
          <p:cNvSpPr/>
          <p:nvPr/>
        </p:nvSpPr>
        <p:spPr>
          <a:xfrm>
            <a:off x="4681728" y="4736592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52606D"/>
                </a:solidFill>
              </a:rPr>
              <a:t>Sensors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52606D"/>
                </a:solidFill>
              </a:rPr>
              <a:t>CMMS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52606D"/>
                </a:solidFill>
              </a:rPr>
              <a:t>MES</a:t>
            </a:r>
            <a:endParaRPr lang="en-US" sz="1040" dirty="0"/>
          </a:p>
        </p:txBody>
      </p:sp>
      <p:sp>
        <p:nvSpPr>
          <p:cNvPr id="23" name="Shape 19"/>
          <p:cNvSpPr/>
          <p:nvPr/>
        </p:nvSpPr>
        <p:spPr>
          <a:xfrm>
            <a:off x="6492240" y="4370832"/>
            <a:ext cx="1353312" cy="96012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583680" y="450799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</a:rPr>
              <a:t>Cleaning</a:t>
            </a:r>
            <a:endParaRPr lang="en-US" sz="1260" dirty="0"/>
          </a:p>
        </p:txBody>
      </p:sp>
      <p:sp>
        <p:nvSpPr>
          <p:cNvPr id="25" name="Text 21"/>
          <p:cNvSpPr/>
          <p:nvPr/>
        </p:nvSpPr>
        <p:spPr>
          <a:xfrm>
            <a:off x="6583680" y="4736592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52606D"/>
                </a:solidFill>
              </a:rPr>
              <a:t>Missing values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52606D"/>
                </a:solidFill>
              </a:rPr>
              <a:t>caps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52606D"/>
                </a:solidFill>
              </a:rPr>
              <a:t>unit checks</a:t>
            </a:r>
            <a:endParaRPr lang="en-US" sz="1040" dirty="0"/>
          </a:p>
        </p:txBody>
      </p:sp>
      <p:sp>
        <p:nvSpPr>
          <p:cNvPr id="26" name="Shape 22"/>
          <p:cNvSpPr/>
          <p:nvPr/>
        </p:nvSpPr>
        <p:spPr>
          <a:xfrm>
            <a:off x="8394192" y="4370832"/>
            <a:ext cx="1353312" cy="960120"/>
          </a:xfrm>
          <a:prstGeom prst="roundRect">
            <a:avLst>
              <a:gd name="adj" fmla="val 4762"/>
            </a:avLst>
          </a:prstGeom>
          <a:solidFill>
            <a:srgbClr val="E6FFFB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85632" y="450799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</a:rPr>
              <a:t>Features</a:t>
            </a:r>
            <a:endParaRPr lang="en-US" sz="1260" dirty="0"/>
          </a:p>
        </p:txBody>
      </p:sp>
      <p:sp>
        <p:nvSpPr>
          <p:cNvPr id="28" name="Text 24"/>
          <p:cNvSpPr/>
          <p:nvPr/>
        </p:nvSpPr>
        <p:spPr>
          <a:xfrm>
            <a:off x="8485632" y="4736592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52606D"/>
                </a:solidFill>
              </a:rPr>
              <a:t>lags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52606D"/>
                </a:solidFill>
              </a:rPr>
              <a:t>rolling stats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52606D"/>
                </a:solidFill>
              </a:rPr>
              <a:t>risk flags</a:t>
            </a:r>
            <a:endParaRPr lang="en-US" sz="1040" dirty="0"/>
          </a:p>
        </p:txBody>
      </p:sp>
      <p:sp>
        <p:nvSpPr>
          <p:cNvPr id="29" name="Shape 25"/>
          <p:cNvSpPr/>
          <p:nvPr/>
        </p:nvSpPr>
        <p:spPr>
          <a:xfrm>
            <a:off x="10232136" y="4370832"/>
            <a:ext cx="1353312" cy="96012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0323576" y="450799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</a:rPr>
              <a:t>Label set</a:t>
            </a:r>
            <a:endParaRPr lang="en-US" sz="1260" dirty="0"/>
          </a:p>
        </p:txBody>
      </p:sp>
      <p:sp>
        <p:nvSpPr>
          <p:cNvPr id="31" name="Text 27"/>
          <p:cNvSpPr/>
          <p:nvPr/>
        </p:nvSpPr>
        <p:spPr>
          <a:xfrm>
            <a:off x="10323576" y="4736592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52606D"/>
                </a:solidFill>
              </a:rPr>
              <a:t>7-day failure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52606D"/>
                </a:solidFill>
              </a:rPr>
              <a:t>classification</a:t>
            </a:r>
            <a:endParaRPr lang="en-US" sz="1040" dirty="0"/>
          </a:p>
        </p:txBody>
      </p:sp>
      <p:sp>
        <p:nvSpPr>
          <p:cNvPr id="33" name="Text 28"/>
          <p:cNvSpPr/>
          <p:nvPr/>
        </p:nvSpPr>
        <p:spPr>
          <a:xfrm>
            <a:off x="502920" y="6428232"/>
            <a:ext cx="6217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demo project • portfolio-ready starter package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10698480" y="64282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Vincent Eng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approach and starter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random forest baseline produces a ranked risk score and interpretable feature importance.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70432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335024"/>
            <a:ext cx="13624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6D"/>
                </a:solidFill>
              </a:rPr>
              <a:t>ROC AUC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94944" y="1554480"/>
            <a:ext cx="1362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0.772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359152" y="1170432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23744" y="1335024"/>
            <a:ext cx="13624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6D"/>
                </a:solidFill>
              </a:rPr>
              <a:t>Precision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23744" y="1554480"/>
            <a:ext cx="1362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0.677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187952" y="1170432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52544" y="1335024"/>
            <a:ext cx="13624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6D"/>
                </a:solidFill>
              </a:rPr>
              <a:t>Recall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52544" y="1554480"/>
            <a:ext cx="1362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0.757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016752" y="1170432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81344" y="1335024"/>
            <a:ext cx="13624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6D"/>
                </a:solidFill>
              </a:rPr>
              <a:t>F1 score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81344" y="1554480"/>
            <a:ext cx="1362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0.715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2920" y="2423160"/>
            <a:ext cx="5468112" cy="3273552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67004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Top predictive signals</a:t>
            </a:r>
            <a:endParaRPr lang="en-US" sz="1800" dirty="0"/>
          </a:p>
        </p:txBody>
      </p:sp>
      <p:pic>
        <p:nvPicPr>
          <p:cNvPr id="18" name="Image 0" descr="/mnt/data/predictive-maintenance-project/asset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8147" y="2944368"/>
            <a:ext cx="3279371" cy="240487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199632" y="2423160"/>
            <a:ext cx="2450592" cy="3273552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28232" y="26700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Confusion matrix</a:t>
            </a:r>
            <a:endParaRPr lang="en-US" sz="1800" dirty="0"/>
          </a:p>
        </p:txBody>
      </p:sp>
      <p:pic>
        <p:nvPicPr>
          <p:cNvPr id="21" name="Image 1" descr="/mnt/data/predictive-maintenance-project/assets/confusion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3256511"/>
            <a:ext cx="1938528" cy="176229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869680" y="2423160"/>
            <a:ext cx="2834640" cy="3273552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107424" y="267004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What this means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9098280" y="2944368"/>
            <a:ext cx="2359152" cy="2395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</a:rPr>
              <a:t>Strongest synthetic drivers: </a:t>
            </a:r>
            <a:pPr indent="0" marL="0">
              <a:buNone/>
            </a:pPr>
            <a:r>
              <a:rPr lang="en-US" sz="1340" dirty="0">
                <a:solidFill>
                  <a:srgbClr val="52606D"/>
                </a:solidFill>
              </a:rPr>
              <a:t>vibration, temperature, days since maintenance, current, and line speed.
</a:t>
            </a:r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</a:rPr>
              <a:t>Use case value: </a:t>
            </a:r>
            <a:pPr indent="0" marL="0">
              <a:buNone/>
            </a:pPr>
            <a:r>
              <a:rPr lang="en-US" sz="1340" dirty="0">
                <a:solidFill>
                  <a:srgbClr val="52606D"/>
                </a:solidFill>
              </a:rPr>
              <a:t>maintenance can review the top-risk machines daily instead of treating every asset the same.
</a:t>
            </a:r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</a:rPr>
              <a:t>Next improvement: </a:t>
            </a:r>
            <a:pPr indent="0" marL="0">
              <a:buNone/>
            </a:pPr>
            <a:r>
              <a:rPr lang="en-US" sz="1340" dirty="0">
                <a:solidFill>
                  <a:srgbClr val="52606D"/>
                </a:solidFill>
              </a:rPr>
              <a:t>add time-series drift features and machine-specific thresholds.</a:t>
            </a:r>
            <a:endParaRPr lang="en-US" sz="1340" dirty="0"/>
          </a:p>
        </p:txBody>
      </p:sp>
      <p:sp>
        <p:nvSpPr>
          <p:cNvPr id="25" name="Text 21"/>
          <p:cNvSpPr/>
          <p:nvPr/>
        </p:nvSpPr>
        <p:spPr>
          <a:xfrm>
            <a:off x="502920" y="6428232"/>
            <a:ext cx="6217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demo project • portfolio-ready starter package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10698480" y="64282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Vincent Eng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model output to maintenance 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Operationalize the score through a simple data and alerting pipeline.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45236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447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Deployment architecture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76272" y="3429000"/>
            <a:ext cx="420624" cy="310896"/>
          </a:xfrm>
          <a:prstGeom prst="chevron">
            <a:avLst/>
          </a:prstGeom>
          <a:solidFill>
            <a:srgbClr val="B8C6DB"/>
          </a:solidFill>
          <a:ln w="12700">
            <a:solidFill>
              <a:srgbClr val="B8C6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05072" y="3429000"/>
            <a:ext cx="420624" cy="310896"/>
          </a:xfrm>
          <a:prstGeom prst="chevron">
            <a:avLst/>
          </a:prstGeom>
          <a:solidFill>
            <a:srgbClr val="B8C6DB"/>
          </a:solidFill>
          <a:ln w="12700">
            <a:solidFill>
              <a:srgbClr val="B8C6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33872" y="3429000"/>
            <a:ext cx="420624" cy="310896"/>
          </a:xfrm>
          <a:prstGeom prst="chevron">
            <a:avLst/>
          </a:prstGeom>
          <a:solidFill>
            <a:srgbClr val="B8C6DB"/>
          </a:solidFill>
          <a:ln w="12700">
            <a:solidFill>
              <a:srgbClr val="B8C6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999232"/>
            <a:ext cx="1353312" cy="96012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3182112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</a:rPr>
              <a:t>Edge data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905256" y="340156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52606D"/>
                </a:solidFill>
              </a:rPr>
              <a:t>PLC / sensor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dirty="0">
                <a:solidFill>
                  <a:srgbClr val="52606D"/>
                </a:solidFill>
              </a:rPr>
              <a:t>telemetry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2633472" y="2999232"/>
            <a:ext cx="1353312" cy="96012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34056" y="3182112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</a:rPr>
              <a:t>Ingestion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2734056" y="340156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52606D"/>
                </a:solidFill>
              </a:rPr>
              <a:t>Historian /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dirty="0">
                <a:solidFill>
                  <a:srgbClr val="52606D"/>
                </a:solidFill>
              </a:rPr>
              <a:t>data lake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4462272" y="2999232"/>
            <a:ext cx="1353312" cy="960120"/>
          </a:xfrm>
          <a:prstGeom prst="roundRect">
            <a:avLst>
              <a:gd name="adj" fmla="val 4762"/>
            </a:avLst>
          </a:prstGeom>
          <a:solidFill>
            <a:srgbClr val="EAF2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2856" y="3182112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</a:rPr>
              <a:t>Scoring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4562856" y="340156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52606D"/>
                </a:solidFill>
              </a:rPr>
              <a:t>Batch job or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dirty="0">
                <a:solidFill>
                  <a:srgbClr val="52606D"/>
                </a:solidFill>
              </a:rPr>
              <a:t>API model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291072" y="2999232"/>
            <a:ext cx="1353312" cy="96012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3182112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</a:rPr>
              <a:t>Action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6391656" y="3401568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52606D"/>
                </a:solidFill>
              </a:rPr>
              <a:t>CMMS ticket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dirty="0">
                <a:solidFill>
                  <a:srgbClr val="52606D"/>
                </a:solidFill>
              </a:rPr>
              <a:t>&amp; alert list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804672" y="19476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</a:rPr>
              <a:t>Suggested operating rhythm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04672" y="2231136"/>
            <a:ext cx="6309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766E"/>
                </a:solidFill>
              </a:rPr>
              <a:t>1. </a:t>
            </a:r>
            <a:pPr indent="0" marL="0">
              <a:buNone/>
            </a:pPr>
            <a:r>
              <a:rPr lang="en-US" sz="1320" dirty="0">
                <a:solidFill>
                  <a:srgbClr val="52606D"/>
                </a:solidFill>
              </a:rPr>
              <a:t>Ingest machine and maintenance records daily.
</a:t>
            </a:r>
            <a:pPr indent="0" marL="0">
              <a:buNone/>
            </a:pPr>
            <a:r>
              <a:rPr lang="en-US" sz="1320" b="1" dirty="0">
                <a:solidFill>
                  <a:srgbClr val="0F766E"/>
                </a:solidFill>
              </a:rPr>
              <a:t>2. </a:t>
            </a:r>
            <a:pPr indent="0" marL="0">
              <a:buNone/>
            </a:pPr>
            <a:r>
              <a:rPr lang="en-US" sz="1320" dirty="0">
                <a:solidFill>
                  <a:srgbClr val="52606D"/>
                </a:solidFill>
              </a:rPr>
              <a:t>Score each machine and rank the top 10 risks per line.
</a:t>
            </a:r>
            <a:pPr indent="0" marL="0">
              <a:buNone/>
            </a:pPr>
            <a:r>
              <a:rPr lang="en-US" sz="1320" b="1" dirty="0">
                <a:solidFill>
                  <a:srgbClr val="0F766E"/>
                </a:solidFill>
              </a:rPr>
              <a:t>3. </a:t>
            </a:r>
            <a:pPr indent="0" marL="0">
              <a:buNone/>
            </a:pPr>
            <a:r>
              <a:rPr lang="en-US" sz="1320" dirty="0">
                <a:solidFill>
                  <a:srgbClr val="52606D"/>
                </a:solidFill>
              </a:rPr>
              <a:t>Review in morning maintenance huddle.
</a:t>
            </a:r>
            <a:pPr indent="0" marL="0">
              <a:buNone/>
            </a:pPr>
            <a:r>
              <a:rPr lang="en-US" sz="1320" b="1" dirty="0">
                <a:solidFill>
                  <a:srgbClr val="0F766E"/>
                </a:solidFill>
              </a:rPr>
              <a:t>4. </a:t>
            </a:r>
            <a:pPr indent="0" marL="0">
              <a:buNone/>
            </a:pPr>
            <a:r>
              <a:rPr lang="en-US" sz="1320" dirty="0">
                <a:solidFill>
                  <a:srgbClr val="52606D"/>
                </a:solidFill>
              </a:rPr>
              <a:t>Feed outcomes back to improve thresholds and labels.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8183880" y="1188720"/>
            <a:ext cx="3520440" cy="47091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24" name="Image 0" descr="/mnt/data/pm_technician.png">    </p:cNvPr>
          <p:cNvPicPr>
            <a:picLocks noChangeAspect="1"/>
          </p:cNvPicPr>
          <p:nvPr/>
        </p:nvPicPr>
        <p:blipFill>
          <a:blip r:embed="rId1"/>
          <a:srcRect l="0" r="0" t="368" b="368"/>
          <a:stretch/>
        </p:blipFill>
        <p:spPr>
          <a:xfrm>
            <a:off x="8394192" y="1444752"/>
            <a:ext cx="3108960" cy="20574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394192" y="371246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Decision support output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8394192" y="4005072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Machine M-044
</a:t>
            </a:r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Risk score 0.84 • Line 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High vibration + overdue maintenance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Suggested action: inspect bearings and review spare-part stock.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394192" y="5074920"/>
            <a:ext cx="1463040" cy="402336"/>
          </a:xfrm>
          <a:prstGeom prst="roundRect">
            <a:avLst>
              <a:gd name="adj" fmla="val 11364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012680" y="5074920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E6FFFB"/>
          </a:solidFill>
          <a:ln w="12700">
            <a:solidFill>
              <a:srgbClr val="E6FFF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04504" y="519379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563EB"/>
                </a:solidFill>
              </a:rPr>
              <a:t>Create ticket</a:t>
            </a:r>
            <a:endParaRPr lang="en-US" sz="1120" dirty="0"/>
          </a:p>
        </p:txBody>
      </p:sp>
      <p:sp>
        <p:nvSpPr>
          <p:cNvPr id="30" name="Text 27"/>
          <p:cNvSpPr/>
          <p:nvPr/>
        </p:nvSpPr>
        <p:spPr>
          <a:xfrm>
            <a:off x="10177272" y="5193792"/>
            <a:ext cx="914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766E"/>
                </a:solidFill>
              </a:rPr>
              <a:t>Notify planner</a:t>
            </a:r>
            <a:endParaRPr lang="en-US" sz="1120" dirty="0"/>
          </a:p>
        </p:txBody>
      </p:sp>
      <p:sp>
        <p:nvSpPr>
          <p:cNvPr id="32" name="Text 28"/>
          <p:cNvSpPr/>
          <p:nvPr/>
        </p:nvSpPr>
        <p:spPr>
          <a:xfrm>
            <a:off x="502920" y="6428232"/>
            <a:ext cx="6217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demo project • portfolio-ready starter package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10698480" y="64282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Vincent Eng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package and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included to turn this into a portfolio project or a plant pilot.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1488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508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README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86384" y="18288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2606D"/>
                </a:solidFill>
              </a:rPr>
              <a:t>Business problem, data dictionary, results, and extension ideas.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3127248" y="1325880"/>
            <a:ext cx="21488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3552" y="1508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Python code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73552" y="18288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2606D"/>
                </a:solidFill>
              </a:rPr>
              <a:t>Training script with model fit, metrics, and output charts.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5614416" y="1325880"/>
            <a:ext cx="21488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508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Sample data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60720" y="18288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2606D"/>
                </a:solidFill>
              </a:rPr>
              <a:t>Synthetic machine sensor dataset with failure labels.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101584" y="1325880"/>
            <a:ext cx="21488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508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Slides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47888" y="18288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2606D"/>
                </a:solidFill>
              </a:rPr>
              <a:t>Executive-ready story for AI + maintenance stakeholders.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50749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59359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How to strengthen this project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6112" y="3913632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• Replace synthetic labels with real work-order outcomes.
</a:t>
            </a:r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• Add rolling-window features from historian data.
</a:t>
            </a:r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• Compare random forest with XGBoost or temporal models.
</a:t>
            </a:r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• Integrate outputs with CMMS and planner dashboards.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89320" y="3337560"/>
            <a:ext cx="5532120" cy="1920240"/>
          </a:xfrm>
          <a:prstGeom prst="roundRect">
            <a:avLst>
              <a:gd name="adj" fmla="val 285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36118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FFCF7"/>
                </a:solidFill>
              </a:rPr>
              <a:t>Suggested portfolio headline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91072" y="3950208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Built an end-to-end predictive maintenance starter project for smart manufacturing, covering data design, model training, stakeholder storytelling, and deployment architecture.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91072" y="473659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FAFE"/>
                </a:solidFill>
              </a:rPr>
              <a:t>Use this as a base repo for CIO / Head of IT / Digital Transformation interviews.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428232"/>
            <a:ext cx="6217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 project includes code, sample data, README, and executive deck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698480" y="64282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Vincent Eng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 for Smart Factory</dc:title>
  <dc:subject>Predictive Maintenance for Smart Factory</dc:subject>
  <dc:creator>OpenAI</dc:creator>
  <cp:lastModifiedBy>OpenAI</cp:lastModifiedBy>
  <cp:revision>1</cp:revision>
  <dcterms:created xsi:type="dcterms:W3CDTF">2026-03-17T06:34:12Z</dcterms:created>
  <dcterms:modified xsi:type="dcterms:W3CDTF">2026-03-17T06:34:12Z</dcterms:modified>
</cp:coreProperties>
</file>